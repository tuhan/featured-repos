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62" r:id="rId4"/>
    <p:sldId id="265" r:id="rId5"/>
    <p:sldId id="26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86"/>
  </p:normalViewPr>
  <p:slideViewPr>
    <p:cSldViewPr snapToGrid="0">
      <p:cViewPr>
        <p:scale>
          <a:sx n="80" d="100"/>
          <a:sy n="80" d="100"/>
        </p:scale>
        <p:origin x="1728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07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091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663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5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12/14/25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33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12/14/25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72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12/14/25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524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75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725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92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839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370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Vector background of vibrant colours splashing">
            <a:extLst>
              <a:ext uri="{FF2B5EF4-FFF2-40B4-BE49-F238E27FC236}">
                <a16:creationId xmlns:a16="http://schemas.microsoft.com/office/drawing/2014/main" id="{C8AA5CF7-2D6D-2EF3-56E0-F0912964DF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27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8EC1E-410D-5474-E615-365E49A55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0"/>
            <a:ext cx="8027544" cy="960120"/>
          </a:xfrm>
          <a:ln>
            <a:noFill/>
          </a:ln>
        </p:spPr>
        <p:txBody>
          <a:bodyPr anchor="ctr">
            <a:normAutofit fontScale="90000"/>
          </a:bodyPr>
          <a:lstStyle/>
          <a:p>
            <a:r>
              <a:rPr lang="en-US" sz="3600" dirty="0">
                <a:latin typeface="Calibri" panose="020F0502020204030204" pitchFamily="34" charset="0"/>
                <a:cs typeface="Calibri" panose="020F0502020204030204" pitchFamily="34" charset="0"/>
              </a:rPr>
              <a:t>Retrieval-Augmented Generation (RAG)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03EA00-C8FA-61EC-AD01-83C5D6E89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47585" y="5715000"/>
            <a:ext cx="3630168" cy="960120"/>
          </a:xfrm>
        </p:spPr>
        <p:txBody>
          <a:bodyPr anchor="ctr">
            <a:normAutofit/>
          </a:bodyPr>
          <a:lstStyle/>
          <a:p>
            <a:pPr algn="r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Tuhan Sapumanage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F6CEC5-60CA-D6EE-2EDE-0C6F0653EB3B}"/>
              </a:ext>
            </a:extLst>
          </p:cNvPr>
          <p:cNvSpPr txBox="1"/>
          <p:nvPr/>
        </p:nvSpPr>
        <p:spPr>
          <a:xfrm>
            <a:off x="539263" y="773722"/>
            <a:ext cx="32003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Q: You have a document you want to ask questions about. How do you use an LLM to support this?</a:t>
            </a:r>
          </a:p>
        </p:txBody>
      </p:sp>
    </p:spTree>
    <p:extLst>
      <p:ext uri="{BB962C8B-B14F-4D97-AF65-F5344CB8AC3E}">
        <p14:creationId xmlns:p14="http://schemas.microsoft.com/office/powerpoint/2010/main" val="361092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DAF4-270C-05B2-EA89-6F4945427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2A1E6-DB1B-843E-2A89-B7C469FDC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17077"/>
            <a:ext cx="10691265" cy="3446585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LLMs are trained on general data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Hallucinate</a:t>
            </a:r>
          </a:p>
          <a:p>
            <a:pPr lvl="1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Not specific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Enterprises have their own data/documents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How do you get the LLM to know this context?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RAG solves this programmatically</a:t>
            </a:r>
          </a:p>
        </p:txBody>
      </p:sp>
    </p:spTree>
    <p:extLst>
      <p:ext uri="{BB962C8B-B14F-4D97-AF65-F5344CB8AC3E}">
        <p14:creationId xmlns:p14="http://schemas.microsoft.com/office/powerpoint/2010/main" val="3095783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83D69-2C60-8FED-A609-E628AC8B3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A8AB-09B6-AC9A-73E5-FC6EC972D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How Rag works (Building)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F891B0-535B-0CEB-71E9-44B2107D8CDF}"/>
              </a:ext>
            </a:extLst>
          </p:cNvPr>
          <p:cNvSpPr txBox="1"/>
          <p:nvPr/>
        </p:nvSpPr>
        <p:spPr>
          <a:xfrm>
            <a:off x="829588" y="2828835"/>
            <a:ext cx="143648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 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PDFs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Databases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APIs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Internet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720BA0-0B69-00AA-F6CB-C016C256ECA8}"/>
              </a:ext>
            </a:extLst>
          </p:cNvPr>
          <p:cNvSpPr txBox="1"/>
          <p:nvPr/>
        </p:nvSpPr>
        <p:spPr>
          <a:xfrm>
            <a:off x="3220327" y="2828835"/>
            <a:ext cx="17390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Split &amp; Chunking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Consider: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Overlap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9010254-01BF-0C1F-B34C-E3DEE970D6A6}"/>
              </a:ext>
            </a:extLst>
          </p:cNvPr>
          <p:cNvCxnSpPr/>
          <p:nvPr/>
        </p:nvCxnSpPr>
        <p:spPr>
          <a:xfrm>
            <a:off x="2438399" y="3013501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302A565-C838-4C41-7019-1A2FD4BABED6}"/>
              </a:ext>
            </a:extLst>
          </p:cNvPr>
          <p:cNvSpPr txBox="1"/>
          <p:nvPr/>
        </p:nvSpPr>
        <p:spPr>
          <a:xfrm>
            <a:off x="5851218" y="2828835"/>
            <a:ext cx="24135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Embedding (LangChain)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Numerically store what is close to each other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7F1BB58-9B9B-4AB8-B197-4D9FDA572A9E}"/>
              </a:ext>
            </a:extLst>
          </p:cNvPr>
          <p:cNvCxnSpPr/>
          <p:nvPr/>
        </p:nvCxnSpPr>
        <p:spPr>
          <a:xfrm>
            <a:off x="5119588" y="3013501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59C332-A8C5-54C1-8CA5-383F61E77864}"/>
              </a:ext>
            </a:extLst>
          </p:cNvPr>
          <p:cNvCxnSpPr/>
          <p:nvPr/>
        </p:nvCxnSpPr>
        <p:spPr>
          <a:xfrm>
            <a:off x="8390327" y="3001778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45E62E-BE52-C9F7-00DF-F1AC9C8134E9}"/>
              </a:ext>
            </a:extLst>
          </p:cNvPr>
          <p:cNvSpPr txBox="1"/>
          <p:nvPr/>
        </p:nvSpPr>
        <p:spPr>
          <a:xfrm>
            <a:off x="9156655" y="2828835"/>
            <a:ext cx="2085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Store in a vector DB</a:t>
            </a:r>
          </a:p>
        </p:txBody>
      </p:sp>
    </p:spTree>
    <p:extLst>
      <p:ext uri="{BB962C8B-B14F-4D97-AF65-F5344CB8AC3E}">
        <p14:creationId xmlns:p14="http://schemas.microsoft.com/office/powerpoint/2010/main" val="2788933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81B1881-01CE-866F-33FF-2C523B0E3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How Rag works (Using)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A460F4-77FE-9671-FEC8-A942F979DBA3}"/>
              </a:ext>
            </a:extLst>
          </p:cNvPr>
          <p:cNvSpPr txBox="1"/>
          <p:nvPr/>
        </p:nvSpPr>
        <p:spPr>
          <a:xfrm>
            <a:off x="7701762" y="3420445"/>
            <a:ext cx="9682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Server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D28C121-0805-6104-EE6E-E2D7DD51EEA0}"/>
              </a:ext>
            </a:extLst>
          </p:cNvPr>
          <p:cNvCxnSpPr>
            <a:cxnSpLocks/>
          </p:cNvCxnSpPr>
          <p:nvPr/>
        </p:nvCxnSpPr>
        <p:spPr>
          <a:xfrm flipH="1">
            <a:off x="8548536" y="3483850"/>
            <a:ext cx="8041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4A0A34B-8DF3-D676-1A92-1AFBF6C50BCE}"/>
              </a:ext>
            </a:extLst>
          </p:cNvPr>
          <p:cNvSpPr txBox="1"/>
          <p:nvPr/>
        </p:nvSpPr>
        <p:spPr>
          <a:xfrm>
            <a:off x="9588697" y="3420445"/>
            <a:ext cx="16637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User query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A9EF2C-CA9B-DA6D-664B-4B933F45FF7D}"/>
              </a:ext>
            </a:extLst>
          </p:cNvPr>
          <p:cNvSpPr txBox="1"/>
          <p:nvPr/>
        </p:nvSpPr>
        <p:spPr>
          <a:xfrm>
            <a:off x="4750169" y="2883558"/>
            <a:ext cx="2413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Check the vector DB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E6E2C1-274E-3BED-68E3-D87CB6B3FB23}"/>
              </a:ext>
            </a:extLst>
          </p:cNvPr>
          <p:cNvSpPr txBox="1"/>
          <p:nvPr/>
        </p:nvSpPr>
        <p:spPr>
          <a:xfrm>
            <a:off x="2073313" y="2883558"/>
            <a:ext cx="1970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Select top matches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6EC7DA5-F982-0C8A-6F12-C46865862DE1}"/>
              </a:ext>
            </a:extLst>
          </p:cNvPr>
          <p:cNvCxnSpPr>
            <a:cxnSpLocks/>
            <a:stCxn id="26" idx="1"/>
          </p:cNvCxnSpPr>
          <p:nvPr/>
        </p:nvCxnSpPr>
        <p:spPr>
          <a:xfrm flipH="1">
            <a:off x="4044162" y="3068224"/>
            <a:ext cx="7060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084AE8E-F2BF-FEAD-0B7C-1BD2827F3292}"/>
              </a:ext>
            </a:extLst>
          </p:cNvPr>
          <p:cNvSpPr txBox="1"/>
          <p:nvPr/>
        </p:nvSpPr>
        <p:spPr>
          <a:xfrm>
            <a:off x="861056" y="2883558"/>
            <a:ext cx="674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LLM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33B3FA1-1004-B961-A7C9-BC33C2A54A58}"/>
              </a:ext>
            </a:extLst>
          </p:cNvPr>
          <p:cNvCxnSpPr>
            <a:cxnSpLocks/>
          </p:cNvCxnSpPr>
          <p:nvPr/>
        </p:nvCxnSpPr>
        <p:spPr>
          <a:xfrm flipH="1" flipV="1">
            <a:off x="1443635" y="3066280"/>
            <a:ext cx="526130" cy="19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A236B6DA-E187-A076-AFF5-8273B40AB200}"/>
              </a:ext>
            </a:extLst>
          </p:cNvPr>
          <p:cNvCxnSpPr>
            <a:stCxn id="36" idx="2"/>
            <a:endCxn id="12" idx="1"/>
          </p:cNvCxnSpPr>
          <p:nvPr/>
        </p:nvCxnSpPr>
        <p:spPr>
          <a:xfrm rot="16200000" flipH="1">
            <a:off x="4273852" y="177200"/>
            <a:ext cx="352221" cy="65035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D0BE1AC2-708F-538F-F7EA-06C6622CF0DE}"/>
              </a:ext>
            </a:extLst>
          </p:cNvPr>
          <p:cNvCxnSpPr>
            <a:cxnSpLocks/>
            <a:stCxn id="12" idx="0"/>
          </p:cNvCxnSpPr>
          <p:nvPr/>
        </p:nvCxnSpPr>
        <p:spPr>
          <a:xfrm rot="16200000" flipV="1">
            <a:off x="7361354" y="2595932"/>
            <a:ext cx="354164" cy="129486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277114E-0B69-48CA-06B5-FA9237E7B062}"/>
              </a:ext>
            </a:extLst>
          </p:cNvPr>
          <p:cNvCxnSpPr>
            <a:cxnSpLocks/>
          </p:cNvCxnSpPr>
          <p:nvPr/>
        </p:nvCxnSpPr>
        <p:spPr>
          <a:xfrm>
            <a:off x="8573250" y="3629825"/>
            <a:ext cx="8041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54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  <p:bldP spid="26" grpId="0"/>
      <p:bldP spid="29" grpId="0"/>
      <p:bldP spid="3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D88AE-CE9D-9FEA-3914-D13987519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CDFB0-0A97-07CF-5FC0-AA87340D7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Enterprise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DAF52-BC66-66D1-0D9B-E392960A6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817077"/>
            <a:ext cx="10691265" cy="3446585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Privacy and data security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User need or hype?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ROI considerations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Capgemini - Make it real">
            <a:extLst>
              <a:ext uri="{FF2B5EF4-FFF2-40B4-BE49-F238E27FC236}">
                <a16:creationId xmlns:a16="http://schemas.microsoft.com/office/drawing/2014/main" id="{33CFCD37-1CED-8AE3-1492-098D2957B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2005" y="4023360"/>
            <a:ext cx="3657600" cy="192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715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130</Words>
  <Application>Microsoft Macintosh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Calisto MT</vt:lpstr>
      <vt:lpstr>Univers Condensed</vt:lpstr>
      <vt:lpstr>ChronicleVTI</vt:lpstr>
      <vt:lpstr>Retrieval-Augmented Generation (RAG)</vt:lpstr>
      <vt:lpstr>introduction</vt:lpstr>
      <vt:lpstr>How Rag works (Building)</vt:lpstr>
      <vt:lpstr>How Rag works (Using)</vt:lpstr>
      <vt:lpstr>Enterprise considerations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Sapumanage, Tuhan</dc:creator>
  <cp:lastModifiedBy>Sapumanage, Tuhan</cp:lastModifiedBy>
  <cp:revision>87</cp:revision>
  <dcterms:created xsi:type="dcterms:W3CDTF">2025-12-03T17:46:18Z</dcterms:created>
  <dcterms:modified xsi:type="dcterms:W3CDTF">2025-12-14T15:11:55Z</dcterms:modified>
</cp:coreProperties>
</file>